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Nunito Semi Bold"/>
      <p:regular r:id="rId12"/>
    </p:embeddedFont>
    <p:embeddedFont>
      <p:font typeface="Nunito Semi Bold"/>
      <p:regular r:id="rId13"/>
    </p:embeddedFont>
    <p:embeddedFont>
      <p:font typeface="Nunito Semi Bold"/>
      <p:regular r:id="rId14"/>
    </p:embeddedFont>
    <p:embeddedFont>
      <p:font typeface="Nunito Semi Bold"/>
      <p:regular r:id="rId15"/>
    </p:embeddedFont>
    <p:embeddedFont>
      <p:font typeface="PT Sans"/>
      <p:regular r:id="rId16"/>
    </p:embeddedFont>
    <p:embeddedFont>
      <p:font typeface="PT Sans"/>
      <p:regular r:id="rId17"/>
    </p:embeddedFont>
    <p:embeddedFont>
      <p:font typeface="PT Sans"/>
      <p:regular r:id="rId18"/>
    </p:embeddedFont>
    <p:embeddedFont>
      <p:font typeface="PT Sans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14532"/>
            <a:ext cx="7468553" cy="3379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50"/>
              </a:lnSpc>
              <a:buNone/>
            </a:pPr>
            <a:r>
              <a:rPr lang="en-US" sz="7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Urban Style Retail Intelligence System</a:t>
            </a:r>
            <a:endParaRPr lang="en-US" sz="7050" dirty="0"/>
          </a:p>
        </p:txBody>
      </p:sp>
      <p:sp>
        <p:nvSpPr>
          <p:cNvPr id="4" name="Text 1"/>
          <p:cNvSpPr/>
          <p:nvPr/>
        </p:nvSpPr>
        <p:spPr>
          <a:xfrm>
            <a:off x="837724" y="4681061"/>
            <a:ext cx="74685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Informe del Proyecto de Investigación y Desarrollo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5394127"/>
            <a:ext cx="2707005" cy="84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AIDA_M (Artificial Intelligence Driven by Data)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37724" y="6430328"/>
            <a:ext cx="2707005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Escuela Colombiana de Ingeniería Julio Garavito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19550" y="5374958"/>
            <a:ext cx="4294227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Equipo de Desarrollo: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Zayra Gutiérrez, Andrés Serrato, Sebastián Cardona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19550" y="6037540"/>
            <a:ext cx="4294227" cy="24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Fecha:</a:t>
            </a:r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Octubre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34497"/>
            <a:ext cx="7325916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Task A: Pathfinding &amp; Store Layout Analysis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837724" y="1503164"/>
            <a:ext cx="12954952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simulación del movimiento de clientes mediante algoritmos de búsqueda es esencial para identificar patrones de tráfico y optimizar la disposición física de la tienda (layout).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7724" y="2082641"/>
            <a:ext cx="3157895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con Algoritmo A* (Heurístico)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099" y="2486382"/>
            <a:ext cx="4086939" cy="2989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724" y="5650468"/>
            <a:ext cx="628769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uso de A* optimiza la ruta (menor costo) y revela que los clientes prefieren pasar por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Electronics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para llegar a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generando congestión en el pasillo central. El tono rojo intenso indica las áreas de mayor frecuencia de paso.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512606" y="2082641"/>
            <a:ext cx="4206240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Análisis con Algoritmo BFS (Exploración Nivelada)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981" y="2486382"/>
            <a:ext cx="4086939" cy="30113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2606" y="5672733"/>
            <a:ext cx="6287691" cy="597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BFS, al explorar nivel por nivel sin heurística, promueve rutas alternativas. Esto resulta en una distribución del tráfico más uniforme, con los clientes utilizando los pasillos de los extremos y reduciendo la congestión en el centro de la tienda.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837724" y="6584990"/>
            <a:ext cx="12954952" cy="909995"/>
          </a:xfrm>
          <a:prstGeom prst="roundRect">
            <a:avLst>
              <a:gd name="adj" fmla="val 25648"/>
            </a:avLst>
          </a:prstGeom>
          <a:solidFill>
            <a:srgbClr val="B7C2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19" y="6818471"/>
            <a:ext cx="194429" cy="1554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43144" y="6779300"/>
            <a:ext cx="12294037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implementación de un 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highlight>
                  <a:srgbClr val="2D4DF2"/>
                </a:highlight>
                <a:latin typeface="PT Sans" pitchFamily="34" charset="0"/>
                <a:ea typeface="PT Sans" pitchFamily="34" charset="-122"/>
                <a:cs typeface="PT Sans" pitchFamily="34" charset="-120"/>
              </a:rPr>
              <a:t>Heatmap Overlay</a:t>
            </a:r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en Pygame permite visualizar en tiempo real cómo la elección del algoritmo de búsqueda influye directamente en el flujo de clientes y la identificación de puntos críticos de diseño.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7350"/>
            <a:ext cx="1000637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Task B: Pronóstico de Demanda con Redes LSTM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653540"/>
            <a:ext cx="12954952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empleó una red LSTM de tres capas (128 unidades) para predecir las ventas semanales futuras por categoría, basándose en secuencias históricas y datos suavizados.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7724" y="2624971"/>
            <a:ext cx="12954952" cy="22860"/>
          </a:xfrm>
          <a:prstGeom prst="roundRect">
            <a:avLst>
              <a:gd name="adj" fmla="val 1256592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45237" y="2553176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2D4DF2"/>
          </a:solidFill>
          <a:ln/>
        </p:spPr>
      </p:sp>
      <p:sp>
        <p:nvSpPr>
          <p:cNvPr id="6" name="Text 4"/>
          <p:cNvSpPr/>
          <p:nvPr/>
        </p:nvSpPr>
        <p:spPr>
          <a:xfrm>
            <a:off x="1790581" y="296013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Beauty Forecast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723" y="3457099"/>
            <a:ext cx="3020616" cy="16986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9176" y="5371148"/>
            <a:ext cx="3775829" cy="9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MAE: 700.76 | RMSE: 821.3. La predicción indica un aumento moderado en las ventas futuras, respaldando la necesidad de optimizar el inventario de productos de belleza.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243286" y="2553176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018CE1"/>
          </a:solidFill>
          <a:ln/>
        </p:spPr>
      </p:sp>
      <p:sp>
        <p:nvSpPr>
          <p:cNvPr id="10" name="Text 7"/>
          <p:cNvSpPr/>
          <p:nvPr/>
        </p:nvSpPr>
        <p:spPr>
          <a:xfrm>
            <a:off x="6188631" y="296013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Clothing Forecast</a:t>
            </a:r>
            <a:endParaRPr lang="en-US" sz="1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773" y="3457099"/>
            <a:ext cx="3020616" cy="16986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7226" y="5371148"/>
            <a:ext cx="3775829" cy="73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MAE: 747.5 | RMSE: 906.46. Se observa estabilidad con un leve incremento. El modelo sugiere una planificación de existencias conservadora para esta categoría.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1641336" y="2553176"/>
            <a:ext cx="143589" cy="143589"/>
          </a:xfrm>
          <a:prstGeom prst="roundRect">
            <a:avLst>
              <a:gd name="adj" fmla="val 318409"/>
            </a:avLst>
          </a:prstGeom>
          <a:solidFill>
            <a:srgbClr val="DA33BF"/>
          </a:solidFill>
          <a:ln/>
        </p:spPr>
      </p:sp>
      <p:sp>
        <p:nvSpPr>
          <p:cNvPr id="14" name="Text 10"/>
          <p:cNvSpPr/>
          <p:nvPr/>
        </p:nvSpPr>
        <p:spPr>
          <a:xfrm>
            <a:off x="10586680" y="2960132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Electronics Forecast</a:t>
            </a:r>
            <a:endParaRPr lang="en-US" sz="1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823" y="3457099"/>
            <a:ext cx="3020616" cy="16956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5276" y="5368171"/>
            <a:ext cx="3775829" cy="980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MAE: 1241.2 | RMSE: 1494.6. La mayor variabilidad del error sugiere una tendencia a la baja, alertando sobre la necesidad de implementar promociones inmediatas o ajustar drásticamente el inventario.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37724" y="6662870"/>
            <a:ext cx="12954952" cy="31552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837724" y="6909792"/>
            <a:ext cx="12954952" cy="612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evaluación con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RMSE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cuantifica el error promedio de predicción en unidades monetarias, proporcionando una base sólida para la toma de decisiones de inventario y promoción.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982" y="632460"/>
            <a:ext cx="9450824" cy="439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Task C: Maximización de Revenue con Dynamic Pricing (RL)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04982" y="1371124"/>
            <a:ext cx="1302043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agente PPO se entrena en un entorno Gym simulando la elasticidad precio para ajustar dinámicamente los precios y maximizar la recompensa (ingresos acumulados).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602" y="1877258"/>
            <a:ext cx="4248745" cy="224254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886" y="1877258"/>
            <a:ext cx="4250055" cy="22425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79" y="1877258"/>
            <a:ext cx="4267319" cy="224254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9176" y="4554855"/>
            <a:ext cx="12796242" cy="478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pricing dinámico con RL (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18CE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PPO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 consistentemente supera al pricing estático, adaptándose a las fluctuaciones de demanda simuladas. Se observa una mejora significativa en el revenue total en las tres categorías principales.</a:t>
            </a:r>
            <a:endParaRPr lang="en-US" sz="1150" dirty="0"/>
          </a:p>
        </p:txBody>
      </p:sp>
      <p:sp>
        <p:nvSpPr>
          <p:cNvPr id="8" name="Shape 3"/>
          <p:cNvSpPr/>
          <p:nvPr/>
        </p:nvSpPr>
        <p:spPr>
          <a:xfrm>
            <a:off x="804982" y="4386739"/>
            <a:ext cx="15240" cy="814626"/>
          </a:xfrm>
          <a:prstGeom prst="rect">
            <a:avLst/>
          </a:prstGeom>
          <a:solidFill>
            <a:srgbClr val="2D4DF2"/>
          </a:solidFill>
          <a:ln/>
        </p:spPr>
      </p:sp>
      <p:sp>
        <p:nvSpPr>
          <p:cNvPr id="9" name="Shape 4"/>
          <p:cNvSpPr/>
          <p:nvPr/>
        </p:nvSpPr>
        <p:spPr>
          <a:xfrm>
            <a:off x="804982" y="5369481"/>
            <a:ext cx="13020437" cy="2228612"/>
          </a:xfrm>
          <a:prstGeom prst="roundRect">
            <a:avLst>
              <a:gd name="adj" fmla="val 1006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12602" y="5377101"/>
            <a:ext cx="13005197" cy="4337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962025" y="5474375"/>
            <a:ext cx="359890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Categoría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867394" y="5474375"/>
            <a:ext cx="359509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 de Revenue RL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768953" y="5474375"/>
            <a:ext cx="489942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Observación Clave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12602" y="5810845"/>
            <a:ext cx="13005197" cy="4337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962025" y="5908119"/>
            <a:ext cx="359890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Beauty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867394" y="5908119"/>
            <a:ext cx="359509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Hasta 13.7%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768953" y="5908119"/>
            <a:ext cx="489942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Muestra la mayor ganancia porcentual en escenarios de alta variabilidad.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2602" y="6244590"/>
            <a:ext cx="13005197" cy="6729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962025" y="6341864"/>
            <a:ext cx="359890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Electronics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867394" y="6341864"/>
            <a:ext cx="359509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9.19%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68953" y="6341864"/>
            <a:ext cx="4899422" cy="478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agente ajusta los precios para compensar la tendencia a la baja pronosticada.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2602" y="6917531"/>
            <a:ext cx="13005197" cy="6729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62025" y="7014805"/>
            <a:ext cx="359890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Clothing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867394" y="7014805"/>
            <a:ext cx="3595092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5.68%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768953" y="7014805"/>
            <a:ext cx="4899422" cy="478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Mejora estable, demostrando la capacidad de RL para optimizar ingresos incluso con demanda menos volátil.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00921"/>
            <a:ext cx="10536317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Task D: Generación de Contenido Promocional con DCGAN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837724" y="1528643"/>
            <a:ext cx="12954952" cy="536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empleó una Deep Convolutional GAN para generar imágenes de prendas de vestir, partiendo del dataset Fashion-MNIST, con el fin de automatizar la creación de material publicitario.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2420660"/>
            <a:ext cx="4000024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Fase Inicial de Entrenamiento (Ruido)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904768"/>
            <a:ext cx="4391025" cy="24763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724" y="5569625"/>
            <a:ext cx="6273046" cy="64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 inicio (pocas épocas), el discriminador tiene baja precisión (0.4-0.6) y el generador produce solo ruido aleatorio, sin formas reconocibles. Esto indica que el modelo está en la etapa de aprendizaje básico de los patrones de color y textura.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527250" y="2420660"/>
            <a:ext cx="5079206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Fase de Convergencia (Imágenes Reconocibles)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250" y="2904768"/>
            <a:ext cx="4391025" cy="24144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27250" y="5507712"/>
            <a:ext cx="6273046" cy="64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Tras 50 épocas, las pérdidas se estabilizan. El generador crea prendas de vestir (camisetas, pantalones) con formas definidas, adecuadas para ser utilizadas como borradores o bases de pósters promocionales para UrbanStyle.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37724" y="6614993"/>
            <a:ext cx="3154085" cy="394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837724" y="7260550"/>
            <a:ext cx="1295495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2025-10-18T10:04:35Z</dcterms:created>
  <dcterms:modified xsi:type="dcterms:W3CDTF">2025-10-18T10:04:35Z</dcterms:modified>
</cp:coreProperties>
</file>